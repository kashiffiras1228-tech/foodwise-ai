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5486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🌿 FoodWise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F5DF"/>
                </a:solidFill>
                <a:latin typeface="Calibri"/>
              </a:rPr>
              <a:t>AI-Powered Food Waste Prediction, Surplus Detection &amp;
Redistribution Support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83280"/>
            <a:ext cx="5788152" cy="36576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3E4C0"/>
                </a:solidFill>
                <a:latin typeface="Calibri"/>
              </a:rPr>
              <a:t>IBM SkillsBuild Internship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D4A8"/>
                </a:solidFill>
                <a:latin typeface="Calibri"/>
              </a:rPr>
              <a:t>SDG 12 — Responsible Consumption and Production  |  Target 12.3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0A885"/>
                </a:solidFill>
                <a:latin typeface="Calibri"/>
              </a:rPr>
              <a:t>Decision-support prototype  •  Python  •  Streamlit  •  scikit-learn  •  Plotly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Why do food-serving organisations need a better tool?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7132320" cy="1078992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Calibri"/>
              </a:rPr>
              <a:t>📊  Demand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Staff rely on manual estimation with no systematic prediction — resulting in chronic over-preparation.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67712"/>
            <a:ext cx="7132320" cy="1078992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4086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Calibri"/>
              </a:rPr>
              <a:t>⏰  Late Surplus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88336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Remaining food is identified only after service, when most options (discount, redistribute) are gone.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38144"/>
            <a:ext cx="7132320" cy="1078992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1129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Calibri"/>
              </a:rPr>
              <a:t>❌  No Decision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58768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There is no structured, data-driven workflow to decide what to do with identified surplus.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608576"/>
            <a:ext cx="7132320" cy="1078992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8172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Calibri"/>
              </a:rPr>
              <a:t>🔁  Missed Redistribution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29200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Surplus that could benefit community organisations is discarded due to time pressure or lack of matching.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280160"/>
            <a:ext cx="4114800" cy="384048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55448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~1/3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74320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F5DF"/>
                </a:solidFill>
                <a:latin typeface="Calibri"/>
              </a:rPr>
              <a:t>of all food produced
for human consumption
is lost or wasted
(UN FAO)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526280"/>
            <a:ext cx="3749039" cy="36576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6177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3E4C0"/>
                </a:solidFill>
                <a:latin typeface="Calibri"/>
              </a:rPr>
              <a:t>SDG 12 Target 12.3 calls for halving
per-capita food waste by 2030.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SDG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Primary: SDG 12 | Potential Secondary: SDG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303520" cy="512064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E4C0"/>
                </a:solidFill>
                <a:latin typeface="Calibri"/>
              </a:rPr>
              <a:t>PRIMARY SDG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SDG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F5DF"/>
                </a:solidFill>
                <a:latin typeface="Calibri"/>
              </a:rPr>
              <a:t>Responsible Consumption
and Production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99232"/>
            <a:ext cx="4937760" cy="36576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Target 12.3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4787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8F5DF"/>
                </a:solidFill>
                <a:latin typeface="Calibri"/>
              </a:rPr>
              <a:t>By 2030, halve per-capita global food waste
at the retail and consumer levels and reduce
food losses along production and supply chains.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4937760" cy="36576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E4C0"/>
                </a:solidFill>
                <a:latin typeface="Calibri"/>
              </a:rPr>
              <a:t>How FoodWise AI supports this: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D6EDE1"/>
                </a:solidFill>
                <a:latin typeface="Calibri"/>
              </a:rPr>
              <a:t>✔  Demand prediction supports better preparation planning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6EDE1"/>
                </a:solidFill>
                <a:latin typeface="Calibri"/>
              </a:rPr>
              <a:t>✔  Risk scoring enables timely surplus identification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D6EDE1"/>
                </a:solidFill>
                <a:latin typeface="Calibri"/>
              </a:rPr>
              <a:t>✔  Action recommendations guide decision-making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097280"/>
            <a:ext cx="5669280" cy="3108960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EED6"/>
                </a:solidFill>
                <a:latin typeface="Calibri"/>
              </a:rPr>
              <a:t>POTENTIAL SECONDARY  (prototype only)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4630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SDG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0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EED6"/>
                </a:solidFill>
                <a:latin typeface="Calibri"/>
              </a:rPr>
              <a:t>Zero Hunger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834640"/>
            <a:ext cx="530352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260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3E0"/>
                </a:solidFill>
                <a:latin typeface="Calibri"/>
              </a:rPr>
              <a:t>The redistribution support feature identifies surplus food
that may be eligible for sharing with community organisations.
This represents a potential secondary contribution — not a
claim that FoodWise AI solves hunger.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343400"/>
            <a:ext cx="5669280" cy="1508760"/>
          </a:xfrm>
          <a:prstGeom prst="rect">
            <a:avLst/>
          </a:prstGeom>
          <a:solidFill>
            <a:srgbClr val="FFF8E1"/>
          </a:solidFill>
          <a:ln w="19050">
            <a:solidFill>
              <a:srgbClr val="E07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24"/>
                </a:solidFill>
                <a:latin typeface="Calibri"/>
              </a:rPr>
              <a:t>⚠️  Important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36592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608"/>
                </a:solidFill>
                <a:latin typeface="Calibri"/>
              </a:rPr>
              <a:t>FoodWise AI does NOT claim to:
• Solve hunger    • Certify food as safe
• Perform actual redistribution
• Produce verified environmental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An integrated data-driven pipeline for food surplus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FoodWise AI connects four capabilities in a single lightweight platform: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5" y="1508760"/>
            <a:ext cx="2642615" cy="182880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" y="1563624"/>
            <a:ext cx="292608" cy="2926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545336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72768"/>
            <a:ext cx="2313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E3A"/>
                </a:solidFill>
                <a:latin typeface="Calibri"/>
              </a:rPr>
              <a:t>Predict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911095"/>
            <a:ext cx="2496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Random Forest model forecasts expected Sold_Quantity per item using date &amp; item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5" y="2258568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8653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1508760"/>
            <a:ext cx="2642615" cy="182880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0128" y="1563624"/>
            <a:ext cx="292608" cy="2926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545336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572768"/>
            <a:ext cx="2313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E3A"/>
                </a:solidFill>
                <a:latin typeface="Calibri"/>
              </a:rPr>
              <a:t>Score Surplus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911095"/>
            <a:ext cx="2496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Transparent Low / Medium / High risk using Waste_Ratio and Expiry_Hours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8736" y="2258568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8653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7336" y="1508760"/>
            <a:ext cx="2642615" cy="182880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1563624"/>
            <a:ext cx="292608" cy="2926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1545336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1572768"/>
            <a:ext cx="2313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E3A"/>
                </a:solidFill>
                <a:latin typeface="Calibri"/>
              </a:rPr>
              <a:t>Recommend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1911095"/>
            <a:ext cx="2496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Five-label engine: Monitor, Reduce Prep, Discount, Redistribute, Discard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2258568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8653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5" y="1508760"/>
            <a:ext cx="2642615" cy="182880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0847" y="1563624"/>
            <a:ext cx="292608" cy="2926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0847" y="1545336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1572768"/>
            <a:ext cx="2313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E3A"/>
                </a:solidFill>
                <a:latin typeface="Calibri"/>
              </a:rPr>
              <a:t>Support Redistribution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7" y="1911095"/>
            <a:ext cx="2496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Match eligible surplus to simulated recipient orgs by category &amp; capacity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20440"/>
            <a:ext cx="11457432" cy="36576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6393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All four steps run automatically from a single CSV upload. Every recommendation is a decision-support suggestion requiring human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Data Input → Cleaning → Analytics → Prediction → Risk → Recommendations → Redistribution →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188720"/>
            <a:ext cx="1378457" cy="3840480"/>
          </a:xfrm>
          <a:prstGeom prst="rect">
            <a:avLst/>
          </a:prstGeom>
          <a:solidFill>
            <a:srgbClr val="1A5E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371600"/>
            <a:ext cx="132359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
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057400"/>
            <a:ext cx="1140713" cy="27432"/>
          </a:xfrm>
          <a:prstGeom prst="rect">
            <a:avLst/>
          </a:prstGeom>
          <a:solidFill>
            <a:srgbClr val="A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2176272"/>
            <a:ext cx="132359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DE1"/>
                </a:solidFill>
                <a:latin typeface="Calibri"/>
              </a:rPr>
              <a:t>CSV upload
or sample
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4489" y="294436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EDE1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44218" y="1188720"/>
            <a:ext cx="1378457" cy="3840480"/>
          </a:xfrm>
          <a:prstGeom prst="rect">
            <a:avLst/>
          </a:prstGeom>
          <a:solidFill>
            <a:srgbClr val="2D865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0794" y="1371600"/>
            <a:ext cx="132359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Cleaning &amp;
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63090" y="2057400"/>
            <a:ext cx="1140713" cy="27432"/>
          </a:xfrm>
          <a:prstGeom prst="rect">
            <a:avLst/>
          </a:prstGeom>
          <a:solidFill>
            <a:srgbClr val="A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0794" y="2176272"/>
            <a:ext cx="132359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DE1"/>
                </a:solidFill>
                <a:latin typeface="Calibri"/>
              </a:rPr>
              <a:t>Dates, negatives,
inconsistencies
fixed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6099" y="294436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EDE1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5827" y="1188720"/>
            <a:ext cx="1378457" cy="3840480"/>
          </a:xfrm>
          <a:prstGeom prst="rect">
            <a:avLst/>
          </a:prstGeom>
          <a:solidFill>
            <a:srgbClr val="117A6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2403" y="1371600"/>
            <a:ext cx="132359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Analytics
EDA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4699" y="2057400"/>
            <a:ext cx="1140713" cy="27432"/>
          </a:xfrm>
          <a:prstGeom prst="rect">
            <a:avLst/>
          </a:prstGeom>
          <a:solidFill>
            <a:srgbClr val="A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2403" y="2176272"/>
            <a:ext cx="132359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DE1"/>
                </a:solidFill>
                <a:latin typeface="Calibri"/>
              </a:rPr>
              <a:t>Trends, category
breakdown, day-of-
week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7710" y="294436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EDE1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7437" y="1188720"/>
            <a:ext cx="1378457" cy="3840480"/>
          </a:xfrm>
          <a:prstGeom prst="rect">
            <a:avLst/>
          </a:prstGeom>
          <a:solidFill>
            <a:srgbClr val="2D865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4013" y="1371600"/>
            <a:ext cx="132359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Demand
Prediction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66309" y="2057400"/>
            <a:ext cx="1140713" cy="27432"/>
          </a:xfrm>
          <a:prstGeom prst="rect">
            <a:avLst/>
          </a:prstGeom>
          <a:solidFill>
            <a:srgbClr val="A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4013" y="2176272"/>
            <a:ext cx="132359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DE1"/>
                </a:solidFill>
                <a:latin typeface="Calibri"/>
              </a:rPr>
              <a:t>Random Forest:
Predicted_Demand
Predicted_Surplus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19" y="294436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EDE1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7" y="1188720"/>
            <a:ext cx="1378457" cy="3840480"/>
          </a:xfrm>
          <a:prstGeom prst="rect">
            <a:avLst/>
          </a:prstGeom>
          <a:solidFill>
            <a:srgbClr val="1A5E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5623" y="1371600"/>
            <a:ext cx="132359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Waste
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057400"/>
            <a:ext cx="1140713" cy="27432"/>
          </a:xfrm>
          <a:prstGeom prst="rect">
            <a:avLst/>
          </a:prstGeom>
          <a:solidFill>
            <a:srgbClr val="A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5623" y="2176272"/>
            <a:ext cx="132359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DE1"/>
                </a:solidFill>
                <a:latin typeface="Calibri"/>
              </a:rPr>
              <a:t>Low / Medium
/ High per record
(transparent rules)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0929" y="294436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EDE1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50658" y="1188720"/>
            <a:ext cx="1378457" cy="3840480"/>
          </a:xfrm>
          <a:prstGeom prst="rect">
            <a:avLst/>
          </a:prstGeom>
          <a:solidFill>
            <a:srgbClr val="117A6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7234" y="1371600"/>
            <a:ext cx="132359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
Recs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69530" y="2057400"/>
            <a:ext cx="1140713" cy="27432"/>
          </a:xfrm>
          <a:prstGeom prst="rect">
            <a:avLst/>
          </a:prstGeom>
          <a:solidFill>
            <a:srgbClr val="A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7234" y="2176272"/>
            <a:ext cx="132359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DE1"/>
                </a:solidFill>
                <a:latin typeface="Calibri"/>
              </a:rPr>
              <a:t>5 actions:
Monitor, Reduce,
Discount, etc.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2540" y="294436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EDE1"/>
                </a:solidFill>
                <a:latin typeface="Calibri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2267" y="1188720"/>
            <a:ext cx="1378457" cy="3840480"/>
          </a:xfrm>
          <a:prstGeom prst="rect">
            <a:avLst/>
          </a:prstGeom>
          <a:solidFill>
            <a:srgbClr val="2D865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8844" y="1371600"/>
            <a:ext cx="132359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Redistribution
Support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21140" y="2057400"/>
            <a:ext cx="1140713" cy="27432"/>
          </a:xfrm>
          <a:prstGeom prst="rect">
            <a:avLst/>
          </a:prstGeom>
          <a:solidFill>
            <a:srgbClr val="A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8844" y="2176272"/>
            <a:ext cx="132359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DE1"/>
                </a:solidFill>
                <a:latin typeface="Calibri"/>
              </a:rPr>
              <a:t>Simulated
recipient
matching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4150" y="294436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EDE1"/>
                </a:solidFill>
                <a:latin typeface="Calibri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53878" y="1188720"/>
            <a:ext cx="1378457" cy="3840480"/>
          </a:xfrm>
          <a:prstGeom prst="rect">
            <a:avLst/>
          </a:prstGeom>
          <a:solidFill>
            <a:srgbClr val="1A5E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90454" y="1371600"/>
            <a:ext cx="132359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Sustainability
Insights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72750" y="2057400"/>
            <a:ext cx="1140713" cy="27432"/>
          </a:xfrm>
          <a:prstGeom prst="rect">
            <a:avLst/>
          </a:prstGeom>
          <a:solidFill>
            <a:srgbClr val="A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90454" y="2176272"/>
            <a:ext cx="132359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DE1"/>
                </a:solidFill>
                <a:latin typeface="Calibri"/>
              </a:rPr>
              <a:t>SDG dashboard
KPIs &amp;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Eight implemented capabilities in the current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577840" cy="118872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15568"/>
            <a:ext cx="5577840" cy="32918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52144"/>
            <a:ext cx="5394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📁  Data Input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99616"/>
            <a:ext cx="539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Sample dataset (6,576 records) or CSV upload. Required columns validated with clear error messages.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115568"/>
            <a:ext cx="5577840" cy="118872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115568"/>
            <a:ext cx="5577840" cy="32918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152144"/>
            <a:ext cx="5394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🧹  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1499616"/>
            <a:ext cx="539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Dates parsed, negatives clamped, Sold ≤ Prepared enforced, Remaining recalculated, quality report shown.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14015"/>
            <a:ext cx="5577840" cy="118872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414015"/>
            <a:ext cx="5577840" cy="32918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450591"/>
            <a:ext cx="5394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📊  Analytics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798063"/>
            <a:ext cx="539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Interactive Plotly charts: daily trends, category breakdown, day-of-week, monthly surplus, top-surplus items.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2414015"/>
            <a:ext cx="5577840" cy="118872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2414015"/>
            <a:ext cx="5577840" cy="32918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9" y="2450591"/>
            <a:ext cx="5394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🤖  ML Demand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2798063"/>
            <a:ext cx="539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Random Forest Regressor. Features: item, category, day, month, weekend. Time-based 80/20 split.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12463"/>
            <a:ext cx="5577840" cy="118872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12463"/>
            <a:ext cx="5577840" cy="32918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49039"/>
            <a:ext cx="5394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⚠️  Surplus &amp; Waste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096511"/>
            <a:ext cx="539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Low/Medium/High risk per record. Uses Waste_Ratio (Remaining÷Prepared) and Expiry_Hours. Food safety is separate.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3712463"/>
            <a:ext cx="5577840" cy="118872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3712463"/>
            <a:ext cx="5577840" cy="32918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799" y="3749039"/>
            <a:ext cx="5394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💡  Action Recommendations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799" y="4096511"/>
            <a:ext cx="539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5-label engine per record: Monitor, Reduce Preparation, Controlled Discount, Redistribution Candidate, Discard (Unsafe).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010912"/>
            <a:ext cx="5577840" cy="118872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010912"/>
            <a:ext cx="5577840" cy="32918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047488"/>
            <a:ext cx="5394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🤝  Redistribution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394959"/>
            <a:ext cx="539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Matches Safe+High-risk surplus to simulated recipients by food category and daily capacity. Prototype only.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5010912"/>
            <a:ext cx="5577840" cy="118872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59" y="5010912"/>
            <a:ext cx="5577840" cy="32918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799" y="5047488"/>
            <a:ext cx="5394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🌍  Sustainability Insights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799" y="5394959"/>
            <a:ext cx="539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SDG 12.3-aligned dashboard: estimated surplus totals, risk counts, redistribution candidates, model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AI / Machine 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Random Forest Regressor — Prototype evaluation on synthetic/demo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394960" cy="502920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94960" cy="36576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43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 &amp;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54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E3A"/>
                </a:solidFill>
                <a:latin typeface="Calibri"/>
              </a:rPr>
              <a:t>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Random Forest Regressor (scikit-learn)
100 trees  |  max depth 10  |  random state 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95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E3A"/>
                </a:solidFill>
                <a:latin typeface="Calibri"/>
              </a:rPr>
              <a:t>Target 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6700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Sold_Quantity (units sold per item per day)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63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E3A"/>
                </a:solidFill>
                <a:latin typeface="Calibri"/>
              </a:rPr>
              <a:t>Input Features (5)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375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•  Food_Item (label-encoded)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•  Category (label-encoded)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•  DayOfWeek (0=Mon … 6=Sun)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•  Month (1–12)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•  IsWeekend (1 if Sat/Sun)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E3A"/>
                </a:solidFill>
                <a:latin typeface="Calibri"/>
              </a:rPr>
              <a:t>Train/Test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1206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Time-based 80/20 split (earlier dates → train, later dates → test)
No data leakage from future observations.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97280"/>
            <a:ext cx="5760720" cy="22860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E4C0"/>
                </a:solidFill>
                <a:latin typeface="Calibri"/>
              </a:rPr>
              <a:t>Prototype Evaluation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490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A885"/>
                </a:solidFill>
                <a:latin typeface="Calibri"/>
              </a:rPr>
              <a:t>on synthetic/demo dataset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828800"/>
            <a:ext cx="1783080" cy="118872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87451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21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5.80 units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67919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A3E4C0"/>
                </a:solidFill>
                <a:latin typeface="Calibri"/>
              </a:rPr>
              <a:t>Mean Absolute Error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828800"/>
            <a:ext cx="1783080" cy="118872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187451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7.49 units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67919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A3E4C0"/>
                </a:solidFill>
                <a:latin typeface="Calibri"/>
              </a:rPr>
              <a:t>Root Mean Squared 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1828800"/>
            <a:ext cx="1783080" cy="118872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187451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221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0.797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67919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A3E4C0"/>
                </a:solidFill>
                <a:latin typeface="Calibri"/>
              </a:rPr>
              <a:t>~80% variance explained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520440"/>
            <a:ext cx="5760720" cy="1280160"/>
          </a:xfrm>
          <a:prstGeom prst="rect">
            <a:avLst/>
          </a:prstGeom>
          <a:solidFill>
            <a:srgbClr val="FFF8E1"/>
          </a:solidFill>
          <a:ln w="19050">
            <a:solidFill>
              <a:srgbClr val="E07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584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24"/>
                </a:solidFill>
                <a:latin typeface="Calibri"/>
              </a:rPr>
              <a:t>⚠️  Important Disclaimer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931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6608"/>
                </a:solidFill>
                <a:latin typeface="Calibri"/>
              </a:rPr>
              <a:t>These results were obtained entirely on the project's synthetic/demo dataset.
They must NOT be interpreted as:
• Production forecasting accuracy
• Real-world performance
• Verified food waste reduction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937760"/>
            <a:ext cx="5760720" cy="914400"/>
          </a:xfrm>
          <a:prstGeom prst="rect">
            <a:avLst/>
          </a:prstGeom>
          <a:solidFill>
            <a:srgbClr val="F0FAF4"/>
          </a:solidFill>
          <a:ln w="635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983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E3A"/>
                </a:solidFill>
                <a:latin typeface="Calibri"/>
              </a:rPr>
              <a:t>Fallback: Item-Adjusted Linear Model (NumPy)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321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4444"/>
                </a:solidFill>
                <a:latin typeface="Calibri"/>
              </a:rPr>
              <a:t>Activates automatically if scikit-learn is unavailable (e.g. security policy). Prototype achieved R² = 0.485 with this fallback.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Application — Dashboard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Running at http://localhost:8501 using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3749039" cy="2194560"/>
          </a:xfrm>
          <a:prstGeom prst="rect">
            <a:avLst/>
          </a:prstGeom>
          <a:solidFill>
            <a:srgbClr val="1A5E3A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Home &amp;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3566159" cy="1554480"/>
          </a:xfrm>
          <a:prstGeom prst="rect">
            <a:avLst/>
          </a:prstGeom>
          <a:solidFill>
            <a:srgbClr val="0E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64207"/>
            <a:ext cx="356615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B88A"/>
                </a:solidFill>
                <a:latin typeface="Calibri"/>
              </a:rPr>
              <a:t>[ Screenshot ]
Insert screenshot of the
running application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16351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E4C0"/>
                </a:solidFill>
                <a:latin typeface="Calibri"/>
              </a:rPr>
              <a:t>KPI cards: total records,
prepared, sold, est. surplus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97280"/>
            <a:ext cx="3749039" cy="2194560"/>
          </a:xfrm>
          <a:prstGeom prst="rect">
            <a:avLst/>
          </a:prstGeom>
          <a:solidFill>
            <a:srgbClr val="1A5E3A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1887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572768"/>
            <a:ext cx="3566159" cy="1554480"/>
          </a:xfrm>
          <a:prstGeom prst="rect">
            <a:avLst/>
          </a:prstGeom>
          <a:solidFill>
            <a:srgbClr val="0E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664207"/>
            <a:ext cx="356615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B88A"/>
                </a:solidFill>
                <a:latin typeface="Calibri"/>
              </a:rPr>
              <a:t>[ Screenshot ]
Insert screenshot of the
running application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816351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E4C0"/>
                </a:solidFill>
                <a:latin typeface="Calibri"/>
              </a:rPr>
              <a:t>Daily trend, category pie,
day-of-week demand chart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097280"/>
            <a:ext cx="3749039" cy="2194560"/>
          </a:xfrm>
          <a:prstGeom prst="rect">
            <a:avLst/>
          </a:prstGeom>
          <a:solidFill>
            <a:srgbClr val="1A5E3A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1887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Demand Prediction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572768"/>
            <a:ext cx="3566159" cy="1554480"/>
          </a:xfrm>
          <a:prstGeom prst="rect">
            <a:avLst/>
          </a:prstGeom>
          <a:solidFill>
            <a:srgbClr val="0E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664207"/>
            <a:ext cx="356615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B88A"/>
                </a:solidFill>
                <a:latin typeface="Calibri"/>
              </a:rPr>
              <a:t>[ Screenshot ]
Insert screenshot of the
running application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816351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E4C0"/>
                </a:solidFill>
                <a:latin typeface="Calibri"/>
              </a:rPr>
              <a:t>Feature importance, predicted
vs actual scatter, per-item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474720"/>
            <a:ext cx="3749039" cy="2194560"/>
          </a:xfrm>
          <a:prstGeom prst="rect">
            <a:avLst/>
          </a:prstGeom>
          <a:solidFill>
            <a:srgbClr val="1A5E3A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56616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Surplus &amp; Waste 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50208"/>
            <a:ext cx="3566159" cy="1554480"/>
          </a:xfrm>
          <a:prstGeom prst="rect">
            <a:avLst/>
          </a:prstGeom>
          <a:solidFill>
            <a:srgbClr val="0E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041648"/>
            <a:ext cx="356615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B88A"/>
                </a:solidFill>
                <a:latin typeface="Calibri"/>
              </a:rPr>
              <a:t>[ Screenshot ]
Insert screenshot of the
running application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193792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E4C0"/>
                </a:solidFill>
                <a:latin typeface="Calibri"/>
              </a:rPr>
              <a:t>Risk distribution pie,
heatmap, high-risk items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474720"/>
            <a:ext cx="3749039" cy="2194560"/>
          </a:xfrm>
          <a:prstGeom prst="rect">
            <a:avLst/>
          </a:prstGeom>
          <a:solidFill>
            <a:srgbClr val="1A5E3A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356616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Action Recommendations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950208"/>
            <a:ext cx="3566159" cy="1554480"/>
          </a:xfrm>
          <a:prstGeom prst="rect">
            <a:avLst/>
          </a:prstGeom>
          <a:solidFill>
            <a:srgbClr val="0E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59" y="4041648"/>
            <a:ext cx="356615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B88A"/>
                </a:solidFill>
                <a:latin typeface="Calibri"/>
              </a:rPr>
              <a:t>[ Screenshot ]
Insert screenshot of the
running application 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59" y="5193792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E4C0"/>
                </a:solidFill>
                <a:latin typeface="Calibri"/>
              </a:rPr>
              <a:t>Action distribution bar chart,
filterable detail 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3474720"/>
            <a:ext cx="3749039" cy="2194560"/>
          </a:xfrm>
          <a:prstGeom prst="rect">
            <a:avLst/>
          </a:prstGeom>
          <a:solidFill>
            <a:srgbClr val="1A5E3A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356616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Redistribution 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3950208"/>
            <a:ext cx="3566159" cy="1554480"/>
          </a:xfrm>
          <a:prstGeom prst="rect">
            <a:avLst/>
          </a:prstGeom>
          <a:solidFill>
            <a:srgbClr val="0E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4041648"/>
            <a:ext cx="356615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B88A"/>
                </a:solidFill>
                <a:latin typeface="Calibri"/>
              </a:rPr>
              <a:t>[ Screenshot ]
Insert screenshot of the
running application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5193792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E4C0"/>
                </a:solidFill>
                <a:latin typeface="Calibri"/>
              </a:rPr>
              <a:t>Recipient orgs table,
match results, surplus by org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291072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0A885"/>
                </a:solidFill>
                <a:latin typeface="Calibri"/>
              </a:rPr>
              <a:t>Run: .venv\Scripts\python.exe -m streamlit run app.py   |   Opens at: http://localhost:8501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Action Recommendations &amp; Redistribution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Transparent rules — decision-support only — human verification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2148840" cy="1737360"/>
          </a:xfrm>
          <a:prstGeom prst="rect">
            <a:avLst/>
          </a:prstGeom>
          <a:solidFill>
            <a:srgbClr val="117A6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34440"/>
            <a:ext cx="2002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196596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764792"/>
            <a:ext cx="20025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Low surplus, no immediate action required. Continue monitoring.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143000"/>
            <a:ext cx="2148840" cy="1737360"/>
          </a:xfrm>
          <a:prstGeom prst="rect">
            <a:avLst/>
          </a:prstGeom>
          <a:solidFill>
            <a:srgbClr val="D48C0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1234440"/>
            <a:ext cx="2002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Reduce Preparation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655064"/>
            <a:ext cx="196596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1764792"/>
            <a:ext cx="20025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Model shows consistent over-preparation vs predicted demand. Adjust tomorrow's batch.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143000"/>
            <a:ext cx="2148840" cy="1737360"/>
          </a:xfrm>
          <a:prstGeom prst="rect">
            <a:avLst/>
          </a:prstGeom>
          <a:solidFill>
            <a:srgbClr val="7B359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234440"/>
            <a:ext cx="2002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Controlled Discount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55064"/>
            <a:ext cx="196596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1764792"/>
            <a:ext cx="20025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Moderate/high surplus with approaching expiry. Offer price reduction to sell.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1143000"/>
            <a:ext cx="2148840" cy="1737360"/>
          </a:xfrm>
          <a:prstGeom prst="rect">
            <a:avLst/>
          </a:prstGeom>
          <a:solidFill>
            <a:srgbClr val="2D865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8312" y="1234440"/>
            <a:ext cx="2002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Redistribution Candidate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1655064"/>
            <a:ext cx="196596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1764792"/>
            <a:ext cx="20025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High surplus + Food_Safety_Status = Safe + Expiry &gt; 6h. Flag for potential sharing.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143000"/>
            <a:ext cx="2148840" cy="1737360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1234440"/>
            <a:ext cx="2002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Discard (Unsafe)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1655064"/>
            <a:ext cx="196596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1764792"/>
            <a:ext cx="20025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Food_Safety_Status = Unsafe. Do not discount or redistribute.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63240"/>
            <a:ext cx="11640312" cy="36576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10896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Redistribution Support — Simulated Prototype Matching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" y="3566160"/>
            <a:ext cx="2836926" cy="228600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657600"/>
            <a:ext cx="26906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E3A"/>
                </a:solidFill>
                <a:latin typeface="Calibri"/>
              </a:rPr>
              <a:t>Eligibility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069080"/>
            <a:ext cx="269062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Only records with Action = “Redistribution Candidate”
(Safe + High risk + Expiry &gt; 6h) proceed to matching.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20974" y="3566160"/>
            <a:ext cx="2836926" cy="228600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4126" y="3657600"/>
            <a:ext cx="26906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E3A"/>
                </a:solidFill>
                <a:latin typeface="Calibri"/>
              </a:rPr>
              <a:t>Category 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4126" y="4069080"/>
            <a:ext cx="269062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Recipient organisation must accept
the food’s category.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31052" y="3566160"/>
            <a:ext cx="2836926" cy="228600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657600"/>
            <a:ext cx="26906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E3A"/>
                </a:solidFill>
                <a:latin typeface="Calibri"/>
              </a:rPr>
              <a:t>Capacity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4204" y="4069080"/>
            <a:ext cx="269062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Recipient daily capacity must be
≥ surplus units.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41130" y="3566160"/>
            <a:ext cx="2836926" cy="228600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14282" y="3657600"/>
            <a:ext cx="26906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E3A"/>
                </a:solidFill>
                <a:latin typeface="Calibri"/>
              </a:rPr>
              <a:t>Ranked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4282" y="4069080"/>
            <a:ext cx="269062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Up to 3 recipients suggested,
ranked by capacity (highest first).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943600"/>
            <a:ext cx="11640312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E07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98932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D6608"/>
                </a:solidFill>
                <a:latin typeface="Calibri"/>
              </a:rPr>
              <a:t>⚠️  All recipient organisations are FICTIONAL. Food safety is NOT certified by this system. No actual redistribution is performed. Human verification required before any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Prototype Results &amp; QA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Functional QA: 98 PASS, 0 FAIL — Streamlit HTTP 200 — MVP ready for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49039" cy="429768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3E4C0"/>
                </a:solidFill>
                <a:latin typeface="Calibri"/>
              </a:rPr>
              <a:t>QA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6EDE1"/>
                </a:solidFill>
                <a:latin typeface="Calibri"/>
              </a:rPr>
              <a:t>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56432"/>
            <a:ext cx="3200400" cy="36576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 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3E4C0"/>
                </a:solidFill>
                <a:latin typeface="Calibri"/>
              </a:rPr>
              <a:t>2 informational warnings
(non-blocking, design-confirmed)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D4A8"/>
                </a:solidFill>
                <a:latin typeface="Calibri"/>
              </a:rPr>
              <a:t>Streamlit HTTP 200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143000"/>
            <a:ext cx="7498079" cy="1965960"/>
          </a:xfrm>
          <a:prstGeom prst="rect">
            <a:avLst/>
          </a:prstGeom>
          <a:solidFill>
            <a:srgbClr val="F0FAF4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143000"/>
            <a:ext cx="7498079" cy="3474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188720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 Evaluation Results  (synthetic/demo data)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600200"/>
            <a:ext cx="2240280" cy="132588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6642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0116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5.80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6EDE1"/>
                </a:solidFill>
                <a:latin typeface="Calibri"/>
              </a:rPr>
              <a:t>Mean Absolute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1600200"/>
            <a:ext cx="2240280" cy="132588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6642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0116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7.49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6EDE1"/>
                </a:solidFill>
                <a:latin typeface="Calibri"/>
              </a:rPr>
              <a:t>Root Mean Squared Error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40" y="1600200"/>
            <a:ext cx="2240280" cy="132588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16642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0116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0.797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6EDE1"/>
                </a:solidFill>
                <a:latin typeface="Calibri"/>
              </a:rPr>
              <a:t>~80% variance explained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246120"/>
            <a:ext cx="7498079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246120"/>
            <a:ext cx="7498079" cy="347472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291840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QA Findings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3657600"/>
            <a:ext cx="7223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 Impossible quantities (Sold&gt;Prepared, negatives) correctly handled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 Unsafe food never receives Redistribution Candidate action (0 violations)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 Waste risk and food safety confirmed as independent concepts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 No data leakage: time-based split, no future-derived features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 All KPI metrics derived live from active dataset (no hardcoded values)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 Data source switching correctly clears all cached pipeline results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5504688"/>
            <a:ext cx="7498079" cy="621792"/>
          </a:xfrm>
          <a:prstGeom prst="rect">
            <a:avLst/>
          </a:prstGeom>
          <a:solidFill>
            <a:srgbClr val="FFF8E1"/>
          </a:solidFill>
          <a:ln w="12700">
            <a:solidFill>
              <a:srgbClr val="E07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55778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D6608"/>
                </a:solidFill>
                <a:latin typeface="Calibri"/>
              </a:rPr>
              <a:t>⚠️ Metrics are prototype results on synthetic data — NOT production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DE1"/>
                </a:solidFill>
                <a:latin typeface="Calibri"/>
              </a:rPr>
              <a:t>Honest prototype positioning — clear path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577840" cy="5120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07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577840" cy="384048"/>
          </a:xfrm>
          <a:prstGeom prst="rect">
            <a:avLst/>
          </a:prstGeom>
          <a:solidFill>
            <a:srgbClr val="E07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⚠️  Limitations (Current Prototype)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7D4000"/>
                </a:solidFill>
                <a:latin typeface="Calibri"/>
              </a:rPr>
              <a:t>•  Synthetic/demo dataset — no real-world claims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D4000"/>
                </a:solidFill>
                <a:latin typeface="Calibri"/>
              </a:rPr>
              <a:t>•  No real-time POS/inventory integration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D4000"/>
                </a:solidFill>
                <a:latin typeface="Calibri"/>
              </a:rPr>
              <a:t>•  No real NGO or food-bank network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D4000"/>
                </a:solidFill>
                <a:latin typeface="Calibri"/>
              </a:rPr>
              <a:t>•  Food safety NOT autonomously certified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D4000"/>
                </a:solidFill>
                <a:latin typeface="Calibri"/>
              </a:rPr>
              <a:t>•  ML trained on demo data — not production accuracy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D4000"/>
                </a:solidFill>
                <a:latin typeface="Calibri"/>
              </a:rPr>
              <a:t>•  No food weight/caloric content consideration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D4000"/>
                </a:solidFill>
                <a:latin typeface="Calibri"/>
              </a:rPr>
              <a:t>•  No multi-location or authentication support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D4000"/>
                </a:solidFill>
                <a:latin typeface="Calibri"/>
              </a:rPr>
              <a:t>•  All recommendations require human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577840" cy="5120640"/>
          </a:xfrm>
          <a:prstGeom prst="rect">
            <a:avLst/>
          </a:prstGeom>
          <a:solidFill>
            <a:srgbClr val="F0FAF4"/>
          </a:solidFill>
          <a:ln w="12700">
            <a:solidFill>
              <a:srgbClr val="2D8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577840" cy="384048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🚀  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•  Real operational POS/inventory data integration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•  LSTM/time-series models with weather/event features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•  Real-time IoT inventory monitoring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•  Verified NGO/food-bank API partnerships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•  Geospatial distance-based recipient matching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•  Responsible IBM watsonx / LLM explanation layer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•  PDF/Excel reporting for management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•  Role-based dashboards (staff vs managers)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•  Multi-location &amp; multi-organisation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88952" cy="54864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3E4C0"/>
                </a:solidFill>
                <a:latin typeface="Calibri"/>
              </a:rPr>
              <a:t>FoodWise AI  |  IBM SkillsBuild Internship  |  Decision-support prototype  |  SDG 12 Target 12.3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005840"/>
            <a:ext cx="6702552" cy="45720"/>
          </a:xfrm>
          <a:prstGeom prst="rect">
            <a:avLst/>
          </a:prstGeom>
          <a:solidFill>
            <a:srgbClr val="2D8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841248"/>
          </a:xfrm>
          <a:prstGeom prst="rect">
            <a:avLst/>
          </a:prstGeom>
          <a:solidFill>
            <a:srgbClr val="15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2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E4C0"/>
                </a:solidFill>
                <a:latin typeface="Calibri"/>
              </a:rPr>
              <a:t>📊  Decision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280160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DE1"/>
                </a:solidFill>
                <a:latin typeface="Calibri"/>
              </a:rPr>
              <a:t>FoodWise AI provides an integrated, explainable decision-support workflow for food surplus management — combining prediction, risk, recommendations and redistribution in one platform.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21408"/>
            <a:ext cx="11247120" cy="841248"/>
          </a:xfrm>
          <a:prstGeom prst="rect">
            <a:avLst/>
          </a:prstGeom>
          <a:solidFill>
            <a:srgbClr val="15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854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E4C0"/>
                </a:solidFill>
                <a:latin typeface="Calibri"/>
              </a:rPr>
              <a:t>🌍  SDG 12.3 Aligned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12848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DE1"/>
                </a:solidFill>
                <a:latin typeface="Calibri"/>
              </a:rPr>
              <a:t>The application directly supports the objective of SDG 12 Target 12.3 — reducing food losses through better demand planning and earlier surplus identification.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54096"/>
            <a:ext cx="11247120" cy="841248"/>
          </a:xfrm>
          <a:prstGeom prst="rect">
            <a:avLst/>
          </a:prstGeom>
          <a:solidFill>
            <a:srgbClr val="15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18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E4C0"/>
                </a:solidFill>
                <a:latin typeface="Calibri"/>
              </a:rPr>
              <a:t>🤖  ML-Powered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45536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DE1"/>
                </a:solidFill>
                <a:latin typeface="Calibri"/>
              </a:rPr>
              <a:t>A Random Forest Regressor delivers R² = 0.797, MAE = 5.80 units on the prototype dataset. Metrics are clearly labelled as synthetic/demo 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86784"/>
            <a:ext cx="11247120" cy="841248"/>
          </a:xfrm>
          <a:prstGeom prst="rect">
            <a:avLst/>
          </a:prstGeom>
          <a:solidFill>
            <a:srgbClr val="15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50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E4C0"/>
                </a:solidFill>
                <a:latin typeface="Calibri"/>
              </a:rPr>
              <a:t>✅  QA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78224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DE1"/>
                </a:solidFill>
                <a:latin typeface="Calibri"/>
              </a:rPr>
              <a:t>98/100 automated checks pass. Streamlit HTTP 200. MVP is running and ready for demonstration.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19472"/>
            <a:ext cx="11247120" cy="841248"/>
          </a:xfrm>
          <a:prstGeom prst="rect">
            <a:avLst/>
          </a:prstGeom>
          <a:solidFill>
            <a:srgbClr val="15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E4C0"/>
                </a:solidFill>
                <a:latin typeface="Calibri"/>
              </a:rPr>
              <a:t>💡  Honest Positioning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010912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DE1"/>
                </a:solidFill>
                <a:latin typeface="Calibri"/>
              </a:rPr>
              <a:t>No claims of verified impact, actual redistribution, or production accuracy. A responsible, auditable foundation for future real-world deployment.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0A885"/>
                </a:solidFill>
                <a:latin typeface="Calibri"/>
              </a:rPr>
              <a:t>IBM SkillsBuild Internship  •  FoodWise AI  •  SDG 12 — Responsible Consumption and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